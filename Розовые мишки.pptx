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319" r:id="rId6"/>
    <p:sldId id="320" r:id="rId7"/>
    <p:sldId id="280" r:id="rId8"/>
    <p:sldId id="321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318" r:id="rId22"/>
    <p:sldId id="297" r:id="rId23"/>
  </p:sldIdLst>
  <p:sldSz cx="9144000" cy="5143500" type="screen16x9"/>
  <p:notesSz cx="6858000" cy="9144000"/>
  <p:embeddedFontLst>
    <p:embeddedFont>
      <p:font typeface="Abril Fatface" panose="020B0604020202020204" charset="0"/>
      <p:regular r:id="rId25"/>
    </p:embeddedFont>
    <p:embeddedFont>
      <p:font typeface="Barlow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8A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E51C8D-653A-4C2F-B261-AAAE8425F870}">
  <a:tblStyle styleId="{F0E51C8D-653A-4C2F-B261-AAAE8425F8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d58435cca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d58435cca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1df84ad3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1df84ad3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d58435cc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d58435cc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d58435cc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d58435cc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482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d58435cc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d58435cc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1096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1d58435cc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1d58435cca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d58435cc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d58435cc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822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d58435cca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d58435cca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11454d04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11454d04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11454d04a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11454d04a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11454d04a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11454d04a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11454d04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11454d04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11454d04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11454d04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11454d04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11454d04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11454d04a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11454d04a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11454d04a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11454d04a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11454d04a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11454d04a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11454d04a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11454d04a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11454d04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11454d04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11454d04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11454d04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687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1d58435cc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1d58435cc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79100" y="1270663"/>
            <a:ext cx="63858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730025" y="3590138"/>
            <a:ext cx="368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644000" y="2302675"/>
            <a:ext cx="5865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001450" y="1460863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626300" y="3259213"/>
            <a:ext cx="39012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241400" y="1642475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00" y="2484275"/>
            <a:ext cx="4661100" cy="12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2429725" y="8794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2424850" y="1914150"/>
            <a:ext cx="4293900" cy="10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2256000" y="3467175"/>
            <a:ext cx="4632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bril Fatface"/>
              <a:buNone/>
              <a:defRPr sz="35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hyperlink" Target="http://bcrypt.n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/>
          <p:nvPr/>
        </p:nvSpPr>
        <p:spPr>
          <a:xfrm>
            <a:off x="750094" y="248375"/>
            <a:ext cx="7560956" cy="864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75" name="Google Shape;75;p22"/>
          <p:cNvSpPr txBox="1">
            <a:spLocks noGrp="1"/>
          </p:cNvSpPr>
          <p:nvPr>
            <p:ph type="ctrTitle"/>
          </p:nvPr>
        </p:nvSpPr>
        <p:spPr>
          <a:xfrm>
            <a:off x="1186219" y="1279775"/>
            <a:ext cx="6385800" cy="206340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Магазин розовых плюшевых мишек</a:t>
            </a:r>
            <a:endParaRPr sz="50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lt1"/>
                </a:solidFill>
              </a:rPr>
              <a:t> </a:t>
            </a:r>
            <a:r>
              <a:rPr lang="en" sz="2800" dirty="0"/>
              <a:t>Проектирование базы данных и разработка приложения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76" name="Google Shape;76;p22"/>
          <p:cNvSpPr txBox="1">
            <a:spLocks noGrp="1"/>
          </p:cNvSpPr>
          <p:nvPr>
            <p:ph type="subTitle" idx="1"/>
          </p:nvPr>
        </p:nvSpPr>
        <p:spPr>
          <a:xfrm>
            <a:off x="1064419" y="248375"/>
            <a:ext cx="6359231" cy="25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Министерство просвещения и науки Республики Башкортостан</a:t>
            </a:r>
            <a:endParaRPr dirty="0"/>
          </a:p>
        </p:txBody>
      </p:sp>
      <p:sp>
        <p:nvSpPr>
          <p:cNvPr id="77" name="Google Shape;77;p22"/>
          <p:cNvSpPr txBox="1">
            <a:spLocks noGrp="1"/>
          </p:cNvSpPr>
          <p:nvPr>
            <p:ph type="subTitle" idx="1"/>
          </p:nvPr>
        </p:nvSpPr>
        <p:spPr>
          <a:xfrm>
            <a:off x="832950" y="500675"/>
            <a:ext cx="7478100" cy="25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Государственное автономное профессиональное образовательное учреждение</a:t>
            </a:r>
            <a:endParaRPr dirty="0"/>
          </a:p>
        </p:txBody>
      </p:sp>
      <p:sp>
        <p:nvSpPr>
          <p:cNvPr id="78" name="Google Shape;78;p22"/>
          <p:cNvSpPr txBox="1">
            <a:spLocks noGrp="1"/>
          </p:cNvSpPr>
          <p:nvPr>
            <p:ph type="subTitle" idx="1"/>
          </p:nvPr>
        </p:nvSpPr>
        <p:spPr>
          <a:xfrm>
            <a:off x="922950" y="752975"/>
            <a:ext cx="7298100" cy="25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Уфимский колледж статистика, информатики вычислительной техники</a:t>
            </a:r>
            <a:endParaRPr dirty="0"/>
          </a:p>
        </p:txBody>
      </p:sp>
      <p:sp>
        <p:nvSpPr>
          <p:cNvPr id="79" name="Google Shape;79;p22"/>
          <p:cNvSpPr/>
          <p:nvPr/>
        </p:nvSpPr>
        <p:spPr>
          <a:xfrm>
            <a:off x="1251207" y="3476100"/>
            <a:ext cx="6308262" cy="864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</a:endParaRPr>
          </a:p>
        </p:txBody>
      </p:sp>
      <p:sp>
        <p:nvSpPr>
          <p:cNvPr id="80" name="Google Shape;80;p22"/>
          <p:cNvSpPr txBox="1">
            <a:spLocks noGrp="1"/>
          </p:cNvSpPr>
          <p:nvPr>
            <p:ph type="subTitle" idx="1"/>
          </p:nvPr>
        </p:nvSpPr>
        <p:spPr>
          <a:xfrm>
            <a:off x="1251207" y="3509675"/>
            <a:ext cx="5162943" cy="4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Выполнила студентка группы: 22П-1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Петрова Яна Андреевна</a:t>
            </a:r>
            <a:endParaRPr dirty="0"/>
          </a:p>
        </p:txBody>
      </p:sp>
      <p:sp>
        <p:nvSpPr>
          <p:cNvPr id="81" name="Google Shape;81;p22"/>
          <p:cNvSpPr txBox="1">
            <a:spLocks noGrp="1"/>
          </p:cNvSpPr>
          <p:nvPr>
            <p:ph type="subTitle" idx="1"/>
          </p:nvPr>
        </p:nvSpPr>
        <p:spPr>
          <a:xfrm>
            <a:off x="1263757" y="4035875"/>
            <a:ext cx="5150393" cy="25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Руководитель проекта: Шарипова Диана Айдаровна</a:t>
            </a:r>
            <a:endParaRPr dirty="0"/>
          </a:p>
        </p:txBody>
      </p:sp>
      <p:grpSp>
        <p:nvGrpSpPr>
          <p:cNvPr id="10" name="Google Shape;10036;p79">
            <a:extLst>
              <a:ext uri="{FF2B5EF4-FFF2-40B4-BE49-F238E27FC236}">
                <a16:creationId xmlns:a16="http://schemas.microsoft.com/office/drawing/2014/main" id="{4D6691BD-E7A1-46A4-8FCA-99E0C760E29D}"/>
              </a:ext>
            </a:extLst>
          </p:cNvPr>
          <p:cNvGrpSpPr/>
          <p:nvPr/>
        </p:nvGrpSpPr>
        <p:grpSpPr>
          <a:xfrm>
            <a:off x="6645707" y="3512197"/>
            <a:ext cx="554561" cy="727919"/>
            <a:chOff x="6702211" y="3782599"/>
            <a:chExt cx="270104" cy="361754"/>
          </a:xfrm>
          <a:solidFill>
            <a:srgbClr val="FF88A5"/>
          </a:solidFill>
        </p:grpSpPr>
        <p:sp>
          <p:nvSpPr>
            <p:cNvPr id="11" name="Google Shape;10037;p79">
              <a:extLst>
                <a:ext uri="{FF2B5EF4-FFF2-40B4-BE49-F238E27FC236}">
                  <a16:creationId xmlns:a16="http://schemas.microsoft.com/office/drawing/2014/main" id="{96DED85C-E5DD-4A07-ACC2-310D69099820}"/>
                </a:ext>
              </a:extLst>
            </p:cNvPr>
            <p:cNvSpPr/>
            <p:nvPr/>
          </p:nvSpPr>
          <p:spPr>
            <a:xfrm>
              <a:off x="6798011" y="3907070"/>
              <a:ext cx="10233" cy="16252"/>
            </a:xfrm>
            <a:custGeom>
              <a:avLst/>
              <a:gdLst/>
              <a:ahLst/>
              <a:cxnLst/>
              <a:rect l="l" t="t" r="r" b="b"/>
              <a:pathLst>
                <a:path w="323" h="513" extrusionOk="0">
                  <a:moveTo>
                    <a:pt x="156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345"/>
                  </a:lnTo>
                  <a:cubicBezTo>
                    <a:pt x="1" y="441"/>
                    <a:pt x="72" y="512"/>
                    <a:pt x="156" y="512"/>
                  </a:cubicBezTo>
                  <a:cubicBezTo>
                    <a:pt x="251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1" y="0"/>
                    <a:pt x="156" y="0"/>
                  </a:cubicBezTo>
                  <a:close/>
                </a:path>
              </a:pathLst>
            </a:custGeom>
            <a:grpFill/>
            <a:ln>
              <a:solidFill>
                <a:srgbClr val="FF88A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88A5"/>
                </a:solidFill>
              </a:endParaRPr>
            </a:p>
          </p:txBody>
        </p:sp>
        <p:sp>
          <p:nvSpPr>
            <p:cNvPr id="12" name="Google Shape;10038;p79">
              <a:extLst>
                <a:ext uri="{FF2B5EF4-FFF2-40B4-BE49-F238E27FC236}">
                  <a16:creationId xmlns:a16="http://schemas.microsoft.com/office/drawing/2014/main" id="{2391B3ED-4BAD-46F5-8CF3-832B9C7EBBD5}"/>
                </a:ext>
              </a:extLst>
            </p:cNvPr>
            <p:cNvSpPr/>
            <p:nvPr/>
          </p:nvSpPr>
          <p:spPr>
            <a:xfrm>
              <a:off x="6865933" y="3907070"/>
              <a:ext cx="10201" cy="16252"/>
            </a:xfrm>
            <a:custGeom>
              <a:avLst/>
              <a:gdLst/>
              <a:ahLst/>
              <a:cxnLst/>
              <a:rect l="l" t="t" r="r" b="b"/>
              <a:pathLst>
                <a:path w="322" h="513" extrusionOk="0">
                  <a:moveTo>
                    <a:pt x="155" y="0"/>
                  </a:moveTo>
                  <a:cubicBezTo>
                    <a:pt x="72" y="0"/>
                    <a:pt x="0" y="83"/>
                    <a:pt x="0" y="167"/>
                  </a:cubicBezTo>
                  <a:lnTo>
                    <a:pt x="0" y="345"/>
                  </a:lnTo>
                  <a:cubicBezTo>
                    <a:pt x="0" y="441"/>
                    <a:pt x="72" y="512"/>
                    <a:pt x="155" y="512"/>
                  </a:cubicBezTo>
                  <a:cubicBezTo>
                    <a:pt x="250" y="512"/>
                    <a:pt x="322" y="441"/>
                    <a:pt x="322" y="345"/>
                  </a:cubicBezTo>
                  <a:lnTo>
                    <a:pt x="322" y="167"/>
                  </a:lnTo>
                  <a:cubicBezTo>
                    <a:pt x="322" y="83"/>
                    <a:pt x="250" y="0"/>
                    <a:pt x="155" y="0"/>
                  </a:cubicBezTo>
                  <a:close/>
                </a:path>
              </a:pathLst>
            </a:custGeom>
            <a:grpFill/>
            <a:ln>
              <a:solidFill>
                <a:srgbClr val="FF88A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88A5"/>
                </a:solidFill>
              </a:endParaRPr>
            </a:p>
          </p:txBody>
        </p:sp>
        <p:sp>
          <p:nvSpPr>
            <p:cNvPr id="13" name="Google Shape;10039;p79">
              <a:extLst>
                <a:ext uri="{FF2B5EF4-FFF2-40B4-BE49-F238E27FC236}">
                  <a16:creationId xmlns:a16="http://schemas.microsoft.com/office/drawing/2014/main" id="{07C8D216-10B3-4CDA-BDAC-D56784D7E31E}"/>
                </a:ext>
              </a:extLst>
            </p:cNvPr>
            <p:cNvSpPr/>
            <p:nvPr/>
          </p:nvSpPr>
          <p:spPr>
            <a:xfrm>
              <a:off x="6814231" y="3946765"/>
              <a:ext cx="45302" cy="16157"/>
            </a:xfrm>
            <a:custGeom>
              <a:avLst/>
              <a:gdLst/>
              <a:ahLst/>
              <a:cxnLst/>
              <a:rect l="l" t="t" r="r" b="b"/>
              <a:pathLst>
                <a:path w="1430" h="510" extrusionOk="0">
                  <a:moveTo>
                    <a:pt x="180" y="0"/>
                  </a:moveTo>
                  <a:cubicBezTo>
                    <a:pt x="135" y="0"/>
                    <a:pt x="90" y="15"/>
                    <a:pt x="60" y="45"/>
                  </a:cubicBezTo>
                  <a:cubicBezTo>
                    <a:pt x="1" y="104"/>
                    <a:pt x="1" y="223"/>
                    <a:pt x="60" y="283"/>
                  </a:cubicBezTo>
                  <a:cubicBezTo>
                    <a:pt x="215" y="438"/>
                    <a:pt x="453" y="509"/>
                    <a:pt x="715" y="509"/>
                  </a:cubicBezTo>
                  <a:cubicBezTo>
                    <a:pt x="989" y="509"/>
                    <a:pt x="1227" y="414"/>
                    <a:pt x="1370" y="283"/>
                  </a:cubicBezTo>
                  <a:cubicBezTo>
                    <a:pt x="1430" y="212"/>
                    <a:pt x="1430" y="104"/>
                    <a:pt x="1370" y="45"/>
                  </a:cubicBezTo>
                  <a:cubicBezTo>
                    <a:pt x="1340" y="15"/>
                    <a:pt x="1302" y="0"/>
                    <a:pt x="1260" y="0"/>
                  </a:cubicBezTo>
                  <a:cubicBezTo>
                    <a:pt x="1218" y="0"/>
                    <a:pt x="1174" y="15"/>
                    <a:pt x="1132" y="45"/>
                  </a:cubicBezTo>
                  <a:cubicBezTo>
                    <a:pt x="1073" y="104"/>
                    <a:pt x="930" y="176"/>
                    <a:pt x="715" y="176"/>
                  </a:cubicBezTo>
                  <a:cubicBezTo>
                    <a:pt x="513" y="176"/>
                    <a:pt x="358" y="104"/>
                    <a:pt x="299" y="45"/>
                  </a:cubicBezTo>
                  <a:cubicBezTo>
                    <a:pt x="269" y="15"/>
                    <a:pt x="224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rgbClr val="FF88A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88A5"/>
                </a:solidFill>
              </a:endParaRPr>
            </a:p>
          </p:txBody>
        </p:sp>
        <p:sp>
          <p:nvSpPr>
            <p:cNvPr id="14" name="Google Shape;10040;p79">
              <a:extLst>
                <a:ext uri="{FF2B5EF4-FFF2-40B4-BE49-F238E27FC236}">
                  <a16:creationId xmlns:a16="http://schemas.microsoft.com/office/drawing/2014/main" id="{2FA11B3E-6814-4DB6-973D-6DB45B95E33B}"/>
                </a:ext>
              </a:extLst>
            </p:cNvPr>
            <p:cNvSpPr/>
            <p:nvPr/>
          </p:nvSpPr>
          <p:spPr>
            <a:xfrm>
              <a:off x="6702211" y="3782599"/>
              <a:ext cx="270104" cy="361754"/>
            </a:xfrm>
            <a:custGeom>
              <a:avLst/>
              <a:gdLst/>
              <a:ahLst/>
              <a:cxnLst/>
              <a:rect l="l" t="t" r="r" b="b"/>
              <a:pathLst>
                <a:path w="8526" h="11419" extrusionOk="0">
                  <a:moveTo>
                    <a:pt x="4251" y="322"/>
                  </a:moveTo>
                  <a:cubicBezTo>
                    <a:pt x="5835" y="322"/>
                    <a:pt x="7109" y="1595"/>
                    <a:pt x="7109" y="3179"/>
                  </a:cubicBezTo>
                  <a:lnTo>
                    <a:pt x="7133" y="3810"/>
                  </a:lnTo>
                  <a:cubicBezTo>
                    <a:pt x="7037" y="3774"/>
                    <a:pt x="6954" y="3739"/>
                    <a:pt x="6847" y="3739"/>
                  </a:cubicBezTo>
                  <a:lnTo>
                    <a:pt x="6573" y="3739"/>
                  </a:lnTo>
                  <a:cubicBezTo>
                    <a:pt x="5835" y="3739"/>
                    <a:pt x="5025" y="3441"/>
                    <a:pt x="4335" y="2905"/>
                  </a:cubicBezTo>
                  <a:cubicBezTo>
                    <a:pt x="3632" y="2369"/>
                    <a:pt x="3061" y="1643"/>
                    <a:pt x="2692" y="774"/>
                  </a:cubicBezTo>
                  <a:cubicBezTo>
                    <a:pt x="3144" y="476"/>
                    <a:pt x="3680" y="322"/>
                    <a:pt x="4251" y="322"/>
                  </a:cubicBezTo>
                  <a:close/>
                  <a:moveTo>
                    <a:pt x="2406" y="976"/>
                  </a:moveTo>
                  <a:cubicBezTo>
                    <a:pt x="2811" y="1846"/>
                    <a:pt x="3394" y="2608"/>
                    <a:pt x="4120" y="3155"/>
                  </a:cubicBezTo>
                  <a:cubicBezTo>
                    <a:pt x="4882" y="3739"/>
                    <a:pt x="5740" y="4048"/>
                    <a:pt x="6561" y="4048"/>
                  </a:cubicBezTo>
                  <a:lnTo>
                    <a:pt x="6835" y="4048"/>
                  </a:lnTo>
                  <a:cubicBezTo>
                    <a:pt x="6906" y="4048"/>
                    <a:pt x="6978" y="4084"/>
                    <a:pt x="7037" y="4143"/>
                  </a:cubicBezTo>
                  <a:cubicBezTo>
                    <a:pt x="7097" y="4227"/>
                    <a:pt x="7133" y="4310"/>
                    <a:pt x="7109" y="4393"/>
                  </a:cubicBezTo>
                  <a:cubicBezTo>
                    <a:pt x="7097" y="4524"/>
                    <a:pt x="6966" y="4643"/>
                    <a:pt x="6811" y="4643"/>
                  </a:cubicBezTo>
                  <a:lnTo>
                    <a:pt x="6740" y="4643"/>
                  </a:lnTo>
                  <a:lnTo>
                    <a:pt x="6740" y="4632"/>
                  </a:lnTo>
                  <a:cubicBezTo>
                    <a:pt x="6740" y="4548"/>
                    <a:pt x="6668" y="4465"/>
                    <a:pt x="6573" y="4465"/>
                  </a:cubicBezTo>
                  <a:cubicBezTo>
                    <a:pt x="6490" y="4465"/>
                    <a:pt x="6418" y="4548"/>
                    <a:pt x="6418" y="4632"/>
                  </a:cubicBezTo>
                  <a:cubicBezTo>
                    <a:pt x="6418" y="5822"/>
                    <a:pt x="5442" y="6775"/>
                    <a:pt x="4251" y="6775"/>
                  </a:cubicBezTo>
                  <a:cubicBezTo>
                    <a:pt x="3061" y="6775"/>
                    <a:pt x="2096" y="5810"/>
                    <a:pt x="2096" y="4620"/>
                  </a:cubicBezTo>
                  <a:cubicBezTo>
                    <a:pt x="2096" y="4524"/>
                    <a:pt x="2025" y="4453"/>
                    <a:pt x="1930" y="4453"/>
                  </a:cubicBezTo>
                  <a:cubicBezTo>
                    <a:pt x="1846" y="4453"/>
                    <a:pt x="1775" y="4524"/>
                    <a:pt x="1775" y="4620"/>
                  </a:cubicBezTo>
                  <a:lnTo>
                    <a:pt x="1775" y="4632"/>
                  </a:lnTo>
                  <a:lnTo>
                    <a:pt x="1668" y="4632"/>
                  </a:lnTo>
                  <a:cubicBezTo>
                    <a:pt x="1596" y="4632"/>
                    <a:pt x="1513" y="4608"/>
                    <a:pt x="1453" y="4548"/>
                  </a:cubicBezTo>
                  <a:cubicBezTo>
                    <a:pt x="1394" y="4489"/>
                    <a:pt x="1382" y="4405"/>
                    <a:pt x="1382" y="4322"/>
                  </a:cubicBezTo>
                  <a:cubicBezTo>
                    <a:pt x="1394" y="4191"/>
                    <a:pt x="1537" y="4072"/>
                    <a:pt x="1680" y="4072"/>
                  </a:cubicBezTo>
                  <a:lnTo>
                    <a:pt x="1739" y="4072"/>
                  </a:lnTo>
                  <a:cubicBezTo>
                    <a:pt x="1930" y="4072"/>
                    <a:pt x="2096" y="3989"/>
                    <a:pt x="2227" y="3858"/>
                  </a:cubicBezTo>
                  <a:cubicBezTo>
                    <a:pt x="2370" y="3727"/>
                    <a:pt x="2442" y="3548"/>
                    <a:pt x="2442" y="3370"/>
                  </a:cubicBezTo>
                  <a:lnTo>
                    <a:pt x="2442" y="3191"/>
                  </a:lnTo>
                  <a:cubicBezTo>
                    <a:pt x="2442" y="2965"/>
                    <a:pt x="2549" y="2738"/>
                    <a:pt x="2727" y="2608"/>
                  </a:cubicBezTo>
                  <a:cubicBezTo>
                    <a:pt x="2799" y="2548"/>
                    <a:pt x="2811" y="2441"/>
                    <a:pt x="2751" y="2369"/>
                  </a:cubicBezTo>
                  <a:cubicBezTo>
                    <a:pt x="2717" y="2329"/>
                    <a:pt x="2668" y="2307"/>
                    <a:pt x="2619" y="2307"/>
                  </a:cubicBezTo>
                  <a:cubicBezTo>
                    <a:pt x="2581" y="2307"/>
                    <a:pt x="2544" y="2320"/>
                    <a:pt x="2513" y="2346"/>
                  </a:cubicBezTo>
                  <a:cubicBezTo>
                    <a:pt x="2251" y="2548"/>
                    <a:pt x="2096" y="2846"/>
                    <a:pt x="2096" y="3191"/>
                  </a:cubicBezTo>
                  <a:lnTo>
                    <a:pt x="2096" y="3370"/>
                  </a:lnTo>
                  <a:cubicBezTo>
                    <a:pt x="2096" y="3477"/>
                    <a:pt x="2049" y="3560"/>
                    <a:pt x="1989" y="3620"/>
                  </a:cubicBezTo>
                  <a:cubicBezTo>
                    <a:pt x="1918" y="3691"/>
                    <a:pt x="1834" y="3727"/>
                    <a:pt x="1739" y="3727"/>
                  </a:cubicBezTo>
                  <a:lnTo>
                    <a:pt x="1680" y="3727"/>
                  </a:lnTo>
                  <a:cubicBezTo>
                    <a:pt x="1572" y="3727"/>
                    <a:pt x="1477" y="3751"/>
                    <a:pt x="1382" y="3798"/>
                  </a:cubicBezTo>
                  <a:lnTo>
                    <a:pt x="1382" y="3179"/>
                  </a:lnTo>
                  <a:cubicBezTo>
                    <a:pt x="1382" y="2298"/>
                    <a:pt x="1787" y="1512"/>
                    <a:pt x="2406" y="976"/>
                  </a:cubicBezTo>
                  <a:close/>
                  <a:moveTo>
                    <a:pt x="1394" y="4905"/>
                  </a:moveTo>
                  <a:cubicBezTo>
                    <a:pt x="1489" y="4941"/>
                    <a:pt x="1572" y="4965"/>
                    <a:pt x="1668" y="4965"/>
                  </a:cubicBezTo>
                  <a:lnTo>
                    <a:pt x="1787" y="4965"/>
                  </a:lnTo>
                  <a:cubicBezTo>
                    <a:pt x="1894" y="5739"/>
                    <a:pt x="2370" y="6394"/>
                    <a:pt x="3001" y="6775"/>
                  </a:cubicBezTo>
                  <a:lnTo>
                    <a:pt x="3001" y="7501"/>
                  </a:lnTo>
                  <a:lnTo>
                    <a:pt x="3025" y="7501"/>
                  </a:lnTo>
                  <a:cubicBezTo>
                    <a:pt x="3025" y="7703"/>
                    <a:pt x="2918" y="7894"/>
                    <a:pt x="2739" y="7977"/>
                  </a:cubicBezTo>
                  <a:cubicBezTo>
                    <a:pt x="2453" y="7715"/>
                    <a:pt x="1513" y="6668"/>
                    <a:pt x="1394" y="4905"/>
                  </a:cubicBezTo>
                  <a:close/>
                  <a:moveTo>
                    <a:pt x="7454" y="8954"/>
                  </a:moveTo>
                  <a:lnTo>
                    <a:pt x="7585" y="8989"/>
                  </a:lnTo>
                  <a:cubicBezTo>
                    <a:pt x="7740" y="9037"/>
                    <a:pt x="7859" y="9132"/>
                    <a:pt x="7966" y="9227"/>
                  </a:cubicBezTo>
                  <a:lnTo>
                    <a:pt x="7454" y="9668"/>
                  </a:lnTo>
                  <a:lnTo>
                    <a:pt x="7454" y="8954"/>
                  </a:lnTo>
                  <a:close/>
                  <a:moveTo>
                    <a:pt x="2311" y="8489"/>
                  </a:moveTo>
                  <a:cubicBezTo>
                    <a:pt x="2632" y="9275"/>
                    <a:pt x="3406" y="9787"/>
                    <a:pt x="4251" y="9787"/>
                  </a:cubicBezTo>
                  <a:cubicBezTo>
                    <a:pt x="4763" y="9787"/>
                    <a:pt x="5251" y="9596"/>
                    <a:pt x="5621" y="9275"/>
                  </a:cubicBezTo>
                  <a:cubicBezTo>
                    <a:pt x="5680" y="9394"/>
                    <a:pt x="5763" y="9501"/>
                    <a:pt x="5823" y="9608"/>
                  </a:cubicBezTo>
                  <a:cubicBezTo>
                    <a:pt x="5371" y="9966"/>
                    <a:pt x="4823" y="10156"/>
                    <a:pt x="4251" y="10156"/>
                  </a:cubicBezTo>
                  <a:cubicBezTo>
                    <a:pt x="3239" y="10156"/>
                    <a:pt x="2334" y="9549"/>
                    <a:pt x="1953" y="8620"/>
                  </a:cubicBezTo>
                  <a:lnTo>
                    <a:pt x="2311" y="8489"/>
                  </a:lnTo>
                  <a:close/>
                  <a:moveTo>
                    <a:pt x="4251" y="0"/>
                  </a:moveTo>
                  <a:cubicBezTo>
                    <a:pt x="2489" y="0"/>
                    <a:pt x="1060" y="1429"/>
                    <a:pt x="1060" y="3203"/>
                  </a:cubicBezTo>
                  <a:lnTo>
                    <a:pt x="1060" y="4572"/>
                  </a:lnTo>
                  <a:cubicBezTo>
                    <a:pt x="1060" y="5858"/>
                    <a:pt x="1477" y="6787"/>
                    <a:pt x="1834" y="7370"/>
                  </a:cubicBezTo>
                  <a:cubicBezTo>
                    <a:pt x="2037" y="7715"/>
                    <a:pt x="2263" y="7965"/>
                    <a:pt x="2406" y="8132"/>
                  </a:cubicBezTo>
                  <a:lnTo>
                    <a:pt x="822" y="8692"/>
                  </a:lnTo>
                  <a:cubicBezTo>
                    <a:pt x="322" y="8870"/>
                    <a:pt x="1" y="9335"/>
                    <a:pt x="1" y="9858"/>
                  </a:cubicBezTo>
                  <a:lnTo>
                    <a:pt x="1" y="11240"/>
                  </a:lnTo>
                  <a:cubicBezTo>
                    <a:pt x="1" y="11323"/>
                    <a:pt x="72" y="11406"/>
                    <a:pt x="167" y="11406"/>
                  </a:cubicBezTo>
                  <a:cubicBezTo>
                    <a:pt x="251" y="11406"/>
                    <a:pt x="322" y="11323"/>
                    <a:pt x="322" y="11240"/>
                  </a:cubicBezTo>
                  <a:lnTo>
                    <a:pt x="322" y="9858"/>
                  </a:lnTo>
                  <a:cubicBezTo>
                    <a:pt x="322" y="9751"/>
                    <a:pt x="334" y="9632"/>
                    <a:pt x="382" y="9537"/>
                  </a:cubicBezTo>
                  <a:lnTo>
                    <a:pt x="1239" y="10275"/>
                  </a:lnTo>
                  <a:cubicBezTo>
                    <a:pt x="1358" y="10370"/>
                    <a:pt x="1430" y="10525"/>
                    <a:pt x="1430" y="10692"/>
                  </a:cubicBezTo>
                  <a:lnTo>
                    <a:pt x="1430" y="11251"/>
                  </a:lnTo>
                  <a:cubicBezTo>
                    <a:pt x="1430" y="11347"/>
                    <a:pt x="1501" y="11418"/>
                    <a:pt x="1596" y="11418"/>
                  </a:cubicBezTo>
                  <a:cubicBezTo>
                    <a:pt x="1680" y="11418"/>
                    <a:pt x="1751" y="11347"/>
                    <a:pt x="1751" y="11251"/>
                  </a:cubicBezTo>
                  <a:lnTo>
                    <a:pt x="1751" y="10692"/>
                  </a:lnTo>
                  <a:cubicBezTo>
                    <a:pt x="1751" y="10430"/>
                    <a:pt x="1632" y="10180"/>
                    <a:pt x="1441" y="10013"/>
                  </a:cubicBezTo>
                  <a:lnTo>
                    <a:pt x="560" y="9263"/>
                  </a:lnTo>
                  <a:cubicBezTo>
                    <a:pt x="668" y="9156"/>
                    <a:pt x="787" y="9061"/>
                    <a:pt x="929" y="9025"/>
                  </a:cubicBezTo>
                  <a:lnTo>
                    <a:pt x="1632" y="8763"/>
                  </a:lnTo>
                  <a:cubicBezTo>
                    <a:pt x="2072" y="9823"/>
                    <a:pt x="3108" y="10525"/>
                    <a:pt x="4275" y="10525"/>
                  </a:cubicBezTo>
                  <a:cubicBezTo>
                    <a:pt x="4906" y="10525"/>
                    <a:pt x="5525" y="10311"/>
                    <a:pt x="6013" y="9930"/>
                  </a:cubicBezTo>
                  <a:cubicBezTo>
                    <a:pt x="6240" y="10311"/>
                    <a:pt x="6418" y="10728"/>
                    <a:pt x="6418" y="11251"/>
                  </a:cubicBezTo>
                  <a:cubicBezTo>
                    <a:pt x="6418" y="11347"/>
                    <a:pt x="6490" y="11418"/>
                    <a:pt x="6573" y="11418"/>
                  </a:cubicBezTo>
                  <a:cubicBezTo>
                    <a:pt x="6668" y="11418"/>
                    <a:pt x="6740" y="11347"/>
                    <a:pt x="6740" y="11251"/>
                  </a:cubicBezTo>
                  <a:cubicBezTo>
                    <a:pt x="6740" y="10513"/>
                    <a:pt x="6430" y="9989"/>
                    <a:pt x="6109" y="9477"/>
                  </a:cubicBezTo>
                  <a:cubicBezTo>
                    <a:pt x="5787" y="8942"/>
                    <a:pt x="5490" y="8453"/>
                    <a:pt x="5490" y="7691"/>
                  </a:cubicBezTo>
                  <a:lnTo>
                    <a:pt x="5490" y="7513"/>
                  </a:lnTo>
                  <a:cubicBezTo>
                    <a:pt x="5490" y="7430"/>
                    <a:pt x="5418" y="7358"/>
                    <a:pt x="5323" y="7358"/>
                  </a:cubicBezTo>
                  <a:cubicBezTo>
                    <a:pt x="5240" y="7358"/>
                    <a:pt x="5168" y="7430"/>
                    <a:pt x="5168" y="7513"/>
                  </a:cubicBezTo>
                  <a:lnTo>
                    <a:pt x="5168" y="7691"/>
                  </a:lnTo>
                  <a:cubicBezTo>
                    <a:pt x="5168" y="8227"/>
                    <a:pt x="5299" y="8644"/>
                    <a:pt x="5478" y="9025"/>
                  </a:cubicBezTo>
                  <a:cubicBezTo>
                    <a:pt x="5144" y="9335"/>
                    <a:pt x="4716" y="9501"/>
                    <a:pt x="4251" y="9501"/>
                  </a:cubicBezTo>
                  <a:cubicBezTo>
                    <a:pt x="3537" y="9501"/>
                    <a:pt x="2906" y="9085"/>
                    <a:pt x="2620" y="8442"/>
                  </a:cubicBezTo>
                  <a:lnTo>
                    <a:pt x="2763" y="8382"/>
                  </a:lnTo>
                  <a:cubicBezTo>
                    <a:pt x="3120" y="8263"/>
                    <a:pt x="3346" y="7918"/>
                    <a:pt x="3346" y="7549"/>
                  </a:cubicBezTo>
                  <a:lnTo>
                    <a:pt x="3346" y="6977"/>
                  </a:lnTo>
                  <a:cubicBezTo>
                    <a:pt x="3632" y="7084"/>
                    <a:pt x="3930" y="7144"/>
                    <a:pt x="4251" y="7144"/>
                  </a:cubicBezTo>
                  <a:cubicBezTo>
                    <a:pt x="5501" y="7144"/>
                    <a:pt x="6549" y="6203"/>
                    <a:pt x="6704" y="5001"/>
                  </a:cubicBezTo>
                  <a:lnTo>
                    <a:pt x="6811" y="5001"/>
                  </a:lnTo>
                  <a:cubicBezTo>
                    <a:pt x="6918" y="5001"/>
                    <a:pt x="7025" y="4977"/>
                    <a:pt x="7109" y="4929"/>
                  </a:cubicBezTo>
                  <a:lnTo>
                    <a:pt x="7109" y="11251"/>
                  </a:lnTo>
                  <a:cubicBezTo>
                    <a:pt x="7109" y="11347"/>
                    <a:pt x="7180" y="11418"/>
                    <a:pt x="7276" y="11418"/>
                  </a:cubicBezTo>
                  <a:cubicBezTo>
                    <a:pt x="7359" y="11418"/>
                    <a:pt x="7442" y="11347"/>
                    <a:pt x="7442" y="11251"/>
                  </a:cubicBezTo>
                  <a:lnTo>
                    <a:pt x="7442" y="10108"/>
                  </a:lnTo>
                  <a:lnTo>
                    <a:pt x="8121" y="9525"/>
                  </a:lnTo>
                  <a:cubicBezTo>
                    <a:pt x="8168" y="9632"/>
                    <a:pt x="8180" y="9739"/>
                    <a:pt x="8180" y="9847"/>
                  </a:cubicBezTo>
                  <a:lnTo>
                    <a:pt x="8180" y="11228"/>
                  </a:lnTo>
                  <a:cubicBezTo>
                    <a:pt x="8180" y="11311"/>
                    <a:pt x="8252" y="11394"/>
                    <a:pt x="8347" y="11394"/>
                  </a:cubicBezTo>
                  <a:cubicBezTo>
                    <a:pt x="8430" y="11394"/>
                    <a:pt x="8514" y="11311"/>
                    <a:pt x="8514" y="11228"/>
                  </a:cubicBezTo>
                  <a:lnTo>
                    <a:pt x="8514" y="9847"/>
                  </a:lnTo>
                  <a:cubicBezTo>
                    <a:pt x="8526" y="9323"/>
                    <a:pt x="8204" y="8846"/>
                    <a:pt x="7692" y="8680"/>
                  </a:cubicBezTo>
                  <a:lnTo>
                    <a:pt x="7454" y="8596"/>
                  </a:lnTo>
                  <a:lnTo>
                    <a:pt x="7454" y="3203"/>
                  </a:lnTo>
                  <a:cubicBezTo>
                    <a:pt x="7454" y="1453"/>
                    <a:pt x="6025" y="0"/>
                    <a:pt x="4251" y="0"/>
                  </a:cubicBezTo>
                  <a:close/>
                </a:path>
              </a:pathLst>
            </a:custGeom>
            <a:grpFill/>
            <a:ln>
              <a:solidFill>
                <a:srgbClr val="FF88A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F88A5"/>
                </a:solidFill>
              </a:endParaRPr>
            </a:p>
          </p:txBody>
        </p:sp>
        <p:sp>
          <p:nvSpPr>
            <p:cNvPr id="15" name="Google Shape;10041;p79">
              <a:extLst>
                <a:ext uri="{FF2B5EF4-FFF2-40B4-BE49-F238E27FC236}">
                  <a16:creationId xmlns:a16="http://schemas.microsoft.com/office/drawing/2014/main" id="{8F703181-A087-4102-BB0E-FC87AB4E068E}"/>
                </a:ext>
              </a:extLst>
            </p:cNvPr>
            <p:cNvSpPr/>
            <p:nvPr/>
          </p:nvSpPr>
          <p:spPr>
            <a:xfrm>
              <a:off x="6785941" y="3884229"/>
              <a:ext cx="29082" cy="16442"/>
            </a:xfrm>
            <a:custGeom>
              <a:avLst/>
              <a:gdLst/>
              <a:ahLst/>
              <a:cxnLst/>
              <a:rect l="l" t="t" r="r" b="b"/>
              <a:pathLst>
                <a:path w="918" h="519" extrusionOk="0">
                  <a:moveTo>
                    <a:pt x="717" y="1"/>
                  </a:moveTo>
                  <a:cubicBezTo>
                    <a:pt x="701" y="1"/>
                    <a:pt x="684" y="3"/>
                    <a:pt x="668" y="7"/>
                  </a:cubicBezTo>
                  <a:lnTo>
                    <a:pt x="144" y="185"/>
                  </a:lnTo>
                  <a:cubicBezTo>
                    <a:pt x="49" y="221"/>
                    <a:pt x="1" y="304"/>
                    <a:pt x="37" y="400"/>
                  </a:cubicBezTo>
                  <a:cubicBezTo>
                    <a:pt x="61" y="471"/>
                    <a:pt x="120" y="519"/>
                    <a:pt x="191" y="519"/>
                  </a:cubicBezTo>
                  <a:cubicBezTo>
                    <a:pt x="215" y="519"/>
                    <a:pt x="227" y="519"/>
                    <a:pt x="263" y="495"/>
                  </a:cubicBezTo>
                  <a:lnTo>
                    <a:pt x="787" y="316"/>
                  </a:lnTo>
                  <a:cubicBezTo>
                    <a:pt x="870" y="304"/>
                    <a:pt x="918" y="209"/>
                    <a:pt x="882" y="114"/>
                  </a:cubicBezTo>
                  <a:cubicBezTo>
                    <a:pt x="862" y="45"/>
                    <a:pt x="794" y="1"/>
                    <a:pt x="717" y="1"/>
                  </a:cubicBezTo>
                  <a:close/>
                </a:path>
              </a:pathLst>
            </a:custGeom>
            <a:grpFill/>
            <a:ln>
              <a:solidFill>
                <a:srgbClr val="FF88A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88A5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>
            <a:spLocks noGrp="1"/>
          </p:cNvSpPr>
          <p:nvPr>
            <p:ph type="title"/>
          </p:nvPr>
        </p:nvSpPr>
        <p:spPr>
          <a:xfrm>
            <a:off x="2241400" y="1642475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проекта</a:t>
            </a:r>
            <a:endParaRPr dirty="0"/>
          </a:p>
        </p:txBody>
      </p:sp>
      <p:sp>
        <p:nvSpPr>
          <p:cNvPr id="87" name="Google Shape;87;p23"/>
          <p:cNvSpPr txBox="1">
            <a:spLocks noGrp="1"/>
          </p:cNvSpPr>
          <p:nvPr>
            <p:ph type="subTitle" idx="1"/>
          </p:nvPr>
        </p:nvSpPr>
        <p:spPr>
          <a:xfrm>
            <a:off x="2241500" y="2484275"/>
            <a:ext cx="4661100" cy="12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Разработка базы данных и приложения для магазина розовых плюшевых мишек для оптимизации процессов покупки игрушек.</a:t>
            </a:r>
            <a:endParaRPr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179950B-9CB0-47ED-8392-7E0B53F62689}"/>
              </a:ext>
            </a:extLst>
          </p:cNvPr>
          <p:cNvSpPr/>
          <p:nvPr/>
        </p:nvSpPr>
        <p:spPr>
          <a:xfrm>
            <a:off x="8401049" y="4464843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title"/>
          </p:nvPr>
        </p:nvSpPr>
        <p:spPr>
          <a:xfrm>
            <a:off x="754000" y="662225"/>
            <a:ext cx="3244200" cy="9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Стек технологий</a:t>
            </a:r>
            <a:endParaRPr/>
          </a:p>
        </p:txBody>
      </p:sp>
      <p:graphicFrame>
        <p:nvGraphicFramePr>
          <p:cNvPr id="93" name="Google Shape;93;p24"/>
          <p:cNvGraphicFramePr/>
          <p:nvPr/>
        </p:nvGraphicFramePr>
        <p:xfrm>
          <a:off x="655363" y="1743425"/>
          <a:ext cx="7833275" cy="2592908"/>
        </p:xfrm>
        <a:graphic>
          <a:graphicData uri="http://schemas.openxmlformats.org/drawingml/2006/table">
            <a:tbl>
              <a:tblPr>
                <a:noFill/>
                <a:tableStyleId>{F0E51C8D-653A-4C2F-B261-AAAE8425F870}</a:tableStyleId>
              </a:tblPr>
              <a:tblGrid>
                <a:gridCol w="9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400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Категория</a:t>
                      </a:r>
                      <a:endParaRPr sz="1600">
                        <a:solidFill>
                          <a:schemeClr val="dk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Описание</a:t>
                      </a:r>
                      <a:endParaRPr sz="1600">
                        <a:solidFill>
                          <a:schemeClr val="dk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6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Библиотеки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BCrypt.Net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-Next(4.0.3); MaterialDesignThemes (5.3.0); Newtonsoft.Json;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6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Фреймворки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Microsoft.EntityFrameworkCore (8.0.14); Microsoft.EntityFrameworkCore.Design(8.0.14);Microsoft.EntityFrameworkCore.Tools(8.0.14);Pomelo.EntityFrameworkCore.MySql(8.0.0);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96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Среда разработки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Visual Studio Insiders, MySql Workbench, Docker Desktop, Figma, Inkscape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225"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Язык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Xaml и C#</a:t>
                      </a:r>
                      <a:endParaRPr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4570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4285525" y="662225"/>
            <a:ext cx="1413600" cy="2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Иконка</a:t>
            </a:r>
            <a:endParaRPr sz="2500"/>
          </a:p>
        </p:txBody>
      </p:sp>
      <p:pic>
        <p:nvPicPr>
          <p:cNvPr id="95" name="Google Shape;9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5827" y="605525"/>
            <a:ext cx="934298" cy="9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7DEAF05B-1B8E-41CD-BD0D-E55CA2CB49B8}"/>
              </a:ext>
            </a:extLst>
          </p:cNvPr>
          <p:cNvSpPr/>
          <p:nvPr/>
        </p:nvSpPr>
        <p:spPr>
          <a:xfrm>
            <a:off x="8379618" y="4495033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2766000" y="252913"/>
            <a:ext cx="40968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1"/>
          </p:nvPr>
        </p:nvSpPr>
        <p:spPr>
          <a:xfrm>
            <a:off x="2863788" y="310963"/>
            <a:ext cx="39012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Схема отношений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1400" y="791125"/>
            <a:ext cx="5466024" cy="4027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3759DE03-B209-4175-BF22-896835379F95}"/>
              </a:ext>
            </a:extLst>
          </p:cNvPr>
          <p:cNvSpPr/>
          <p:nvPr/>
        </p:nvSpPr>
        <p:spPr>
          <a:xfrm>
            <a:off x="8379618" y="4486273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2766000" y="252913"/>
            <a:ext cx="40968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1"/>
          </p:nvPr>
        </p:nvSpPr>
        <p:spPr>
          <a:xfrm>
            <a:off x="2863788" y="310963"/>
            <a:ext cx="39012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Модульная схема</a:t>
            </a:r>
            <a:endParaRPr sz="3000" dirty="0">
              <a:solidFill>
                <a:schemeClr val="dk2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225D4B-CA9D-4028-94C8-57A4F1AE2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709" y="784083"/>
            <a:ext cx="5390052" cy="4228981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7A054752-D096-4C76-A7C6-BB39FF6BE997}"/>
              </a:ext>
            </a:extLst>
          </p:cNvPr>
          <p:cNvSpPr/>
          <p:nvPr/>
        </p:nvSpPr>
        <p:spPr>
          <a:xfrm>
            <a:off x="8365331" y="4470139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7679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2137350" y="217194"/>
            <a:ext cx="4670644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1"/>
          </p:nvPr>
        </p:nvSpPr>
        <p:spPr>
          <a:xfrm>
            <a:off x="2235137" y="275244"/>
            <a:ext cx="4479987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Диаграмма прецедентов</a:t>
            </a:r>
            <a:endParaRPr sz="3000" dirty="0">
              <a:solidFill>
                <a:schemeClr val="dk2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CFBAC6-9524-4684-80E1-8389C178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3" y="902946"/>
            <a:ext cx="7686673" cy="3710163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89C7F7A8-927C-467F-AAD6-448BA5EBC9FB}"/>
              </a:ext>
            </a:extLst>
          </p:cNvPr>
          <p:cNvSpPr/>
          <p:nvPr/>
        </p:nvSpPr>
        <p:spPr>
          <a:xfrm>
            <a:off x="8558211" y="4529136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74266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Информация</a:t>
            </a:r>
            <a:endParaRPr dirty="0"/>
          </a:p>
        </p:txBody>
      </p:sp>
      <p:graphicFrame>
        <p:nvGraphicFramePr>
          <p:cNvPr id="287" name="Google Shape;287;p46"/>
          <p:cNvGraphicFramePr/>
          <p:nvPr>
            <p:extLst>
              <p:ext uri="{D42A27DB-BD31-4B8C-83A1-F6EECF244321}">
                <p14:modId xmlns:p14="http://schemas.microsoft.com/office/powerpoint/2010/main" val="4252045835"/>
              </p:ext>
            </p:extLst>
          </p:nvPr>
        </p:nvGraphicFramePr>
        <p:xfrm>
          <a:off x="720000" y="1434816"/>
          <a:ext cx="3537040" cy="2072490"/>
        </p:xfrm>
        <a:graphic>
          <a:graphicData uri="http://schemas.openxmlformats.org/drawingml/2006/table">
            <a:tbl>
              <a:tblPr>
                <a:noFill/>
                <a:tableStyleId>{F0E51C8D-653A-4C2F-B261-AAAE8425F870}</a:tableStyleId>
              </a:tblPr>
              <a:tblGrid>
                <a:gridCol w="353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dk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Входная</a:t>
                      </a:r>
                      <a:endParaRPr sz="2000" dirty="0">
                        <a:solidFill>
                          <a:schemeClr val="dk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None/>
                      </a:pPr>
                      <a:r>
                        <a:rPr lang="ru-RU" dirty="0">
                          <a:solidFill>
                            <a:schemeClr val="lt1"/>
                          </a:solidFill>
                        </a:rPr>
                        <a:t>Список пользователей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None/>
                      </a:pPr>
                      <a:r>
                        <a:rPr lang="ru-RU" dirty="0">
                          <a:solidFill>
                            <a:schemeClr val="lt1"/>
                          </a:solidFill>
                        </a:rPr>
                        <a:t>Список товаров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None/>
                      </a:pPr>
                      <a:r>
                        <a:rPr lang="ru-RU" dirty="0">
                          <a:solidFill>
                            <a:schemeClr val="lt1"/>
                          </a:solidFill>
                        </a:rPr>
                        <a:t>Список заказов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None/>
                      </a:pPr>
                      <a:r>
                        <a:rPr lang="ru-RU" dirty="0">
                          <a:solidFill>
                            <a:schemeClr val="lt1"/>
                          </a:solidFill>
                        </a:rPr>
                        <a:t>Список отзывов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8" name="Google Shape;288;p46"/>
          <p:cNvGraphicFramePr/>
          <p:nvPr>
            <p:extLst>
              <p:ext uri="{D42A27DB-BD31-4B8C-83A1-F6EECF244321}">
                <p14:modId xmlns:p14="http://schemas.microsoft.com/office/powerpoint/2010/main" val="2913698104"/>
              </p:ext>
            </p:extLst>
          </p:nvPr>
        </p:nvGraphicFramePr>
        <p:xfrm>
          <a:off x="4624550" y="1428750"/>
          <a:ext cx="3537040" cy="883860"/>
        </p:xfrm>
        <a:graphic>
          <a:graphicData uri="http://schemas.openxmlformats.org/drawingml/2006/table">
            <a:tbl>
              <a:tblPr>
                <a:noFill/>
                <a:tableStyleId>{F0E51C8D-653A-4C2F-B261-AAAE8425F870}</a:tableStyleId>
              </a:tblPr>
              <a:tblGrid>
                <a:gridCol w="353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olidFill>
                            <a:schemeClr val="dk2"/>
                          </a:solidFill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Выходная</a:t>
                      </a:r>
                      <a:endParaRPr sz="2000" dirty="0">
                        <a:solidFill>
                          <a:schemeClr val="dk2"/>
                        </a:solidFill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Barlow"/>
                        <a:buNone/>
                      </a:pPr>
                      <a:r>
                        <a:rPr lang="ru-RU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Чек в виде </a:t>
                      </a:r>
                      <a:r>
                        <a:rPr lang="en-US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pdf-</a:t>
                      </a:r>
                      <a:r>
                        <a:rPr lang="ru-RU" dirty="0">
                          <a:solidFill>
                            <a:schemeClr val="lt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файла</a:t>
                      </a:r>
                      <a:endParaRPr dirty="0">
                        <a:solidFill>
                          <a:schemeClr val="lt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Овал 16">
            <a:extLst>
              <a:ext uri="{FF2B5EF4-FFF2-40B4-BE49-F238E27FC236}">
                <a16:creationId xmlns:a16="http://schemas.microsoft.com/office/drawing/2014/main" id="{0D5BDB62-1D01-4E0A-B8D8-D96BA955D063}"/>
              </a:ext>
            </a:extLst>
          </p:cNvPr>
          <p:cNvSpPr/>
          <p:nvPr/>
        </p:nvSpPr>
        <p:spPr>
          <a:xfrm>
            <a:off x="8236743" y="4393405"/>
            <a:ext cx="550069" cy="5429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88A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/>
          <p:nvPr/>
        </p:nvSpPr>
        <p:spPr>
          <a:xfrm>
            <a:off x="1938211" y="202907"/>
            <a:ext cx="5496176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1"/>
          </p:nvPr>
        </p:nvSpPr>
        <p:spPr>
          <a:xfrm>
            <a:off x="1938211" y="202907"/>
            <a:ext cx="5496176" cy="48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Шаблон выходного документа</a:t>
            </a:r>
            <a:endParaRPr sz="3000" dirty="0">
              <a:solidFill>
                <a:schemeClr val="dk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144D14-5C7A-4BFD-8691-48B75363F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211" y="987551"/>
            <a:ext cx="5793384" cy="3560213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E191E09C-2E65-4847-9883-C2643305209D}"/>
              </a:ext>
            </a:extLst>
          </p:cNvPr>
          <p:cNvSpPr/>
          <p:nvPr/>
        </p:nvSpPr>
        <p:spPr>
          <a:xfrm>
            <a:off x="8379617" y="4457699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4161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title"/>
          </p:nvPr>
        </p:nvSpPr>
        <p:spPr>
          <a:xfrm>
            <a:off x="1694100" y="1573200"/>
            <a:ext cx="5755800" cy="19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/>
              <a:t>Руководство пользователя</a:t>
            </a:r>
            <a:endParaRPr sz="7000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C8B38AF7-CAE5-4A8A-ADAB-06494755402D}"/>
              </a:ext>
            </a:extLst>
          </p:cNvPr>
          <p:cNvSpPr/>
          <p:nvPr/>
        </p:nvSpPr>
        <p:spPr>
          <a:xfrm>
            <a:off x="8393905" y="4457699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/>
          <p:nvPr/>
        </p:nvSpPr>
        <p:spPr>
          <a:xfrm>
            <a:off x="2766000" y="252913"/>
            <a:ext cx="40968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subTitle" idx="1"/>
          </p:nvPr>
        </p:nvSpPr>
        <p:spPr>
          <a:xfrm>
            <a:off x="2863788" y="310963"/>
            <a:ext cx="39012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Главное окно</a:t>
            </a:r>
            <a:endParaRPr sz="3000">
              <a:solidFill>
                <a:schemeClr val="dk2"/>
              </a:solidFill>
            </a:endParaRPr>
          </a:p>
        </p:txBody>
      </p:sp>
      <p:pic>
        <p:nvPicPr>
          <p:cNvPr id="114" name="Google Shape;1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0725" y="934372"/>
            <a:ext cx="6547349" cy="34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/>
          <p:nvPr/>
        </p:nvSpPr>
        <p:spPr>
          <a:xfrm>
            <a:off x="2256050" y="4561050"/>
            <a:ext cx="53208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 idx="4294967295"/>
          </p:nvPr>
        </p:nvSpPr>
        <p:spPr>
          <a:xfrm>
            <a:off x="2472200" y="4561050"/>
            <a:ext cx="48885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Рисунок 1 - Главное окно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6480040-FE57-4B52-81A1-0E3DA527C5D2}"/>
              </a:ext>
            </a:extLst>
          </p:cNvPr>
          <p:cNvSpPr/>
          <p:nvPr/>
        </p:nvSpPr>
        <p:spPr>
          <a:xfrm>
            <a:off x="8458199" y="4499625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/>
          <p:nvPr/>
        </p:nvSpPr>
        <p:spPr>
          <a:xfrm>
            <a:off x="2185988" y="252925"/>
            <a:ext cx="5022056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1"/>
          </p:nvPr>
        </p:nvSpPr>
        <p:spPr>
          <a:xfrm>
            <a:off x="2050256" y="310975"/>
            <a:ext cx="5310544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</a:rPr>
              <a:t>Регистрация пользователей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23" name="Google Shape;123;p28"/>
          <p:cNvSpPr/>
          <p:nvPr/>
        </p:nvSpPr>
        <p:spPr>
          <a:xfrm>
            <a:off x="2256050" y="4561050"/>
            <a:ext cx="53208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4294967295"/>
          </p:nvPr>
        </p:nvSpPr>
        <p:spPr>
          <a:xfrm>
            <a:off x="2472200" y="4561050"/>
            <a:ext cx="48885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Рисунок 2 - Окно регистрации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25" name="Google Shape;12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225" y="944625"/>
            <a:ext cx="6316446" cy="33481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54C14E9C-E11A-4287-9764-D30333A8717F}"/>
              </a:ext>
            </a:extLst>
          </p:cNvPr>
          <p:cNvSpPr/>
          <p:nvPr/>
        </p:nvSpPr>
        <p:spPr>
          <a:xfrm>
            <a:off x="8422480" y="4499625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/>
          <p:nvPr/>
        </p:nvSpPr>
        <p:spPr>
          <a:xfrm>
            <a:off x="5436394" y="116850"/>
            <a:ext cx="3562044" cy="12711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subTitle" idx="1"/>
          </p:nvPr>
        </p:nvSpPr>
        <p:spPr>
          <a:xfrm>
            <a:off x="5372100" y="116850"/>
            <a:ext cx="3626363" cy="12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</a:rPr>
              <a:t>Окна неавторизованного пользователя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32" name="Google Shape;132;p29"/>
          <p:cNvSpPr/>
          <p:nvPr/>
        </p:nvSpPr>
        <p:spPr>
          <a:xfrm>
            <a:off x="5592550" y="1659150"/>
            <a:ext cx="3405900" cy="884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title" idx="4294967295"/>
          </p:nvPr>
        </p:nvSpPr>
        <p:spPr>
          <a:xfrm>
            <a:off x="5691425" y="1731150"/>
            <a:ext cx="32082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Рисунок 3 - Окно отзывов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34" name="Google Shape;13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55" y="116850"/>
            <a:ext cx="4659269" cy="24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50" y="2716800"/>
            <a:ext cx="4659274" cy="23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/>
          <p:nvPr/>
        </p:nvSpPr>
        <p:spPr>
          <a:xfrm>
            <a:off x="5592550" y="1659150"/>
            <a:ext cx="3405900" cy="884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title" idx="4294967295"/>
          </p:nvPr>
        </p:nvSpPr>
        <p:spPr>
          <a:xfrm>
            <a:off x="5691425" y="1661512"/>
            <a:ext cx="3208200" cy="6715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3 - Окно отзывов</a:t>
            </a:r>
            <a:endParaRPr sz="2500" dirty="0">
              <a:solidFill>
                <a:schemeClr val="dk2"/>
              </a:solidFill>
            </a:endParaRPr>
          </a:p>
        </p:txBody>
      </p:sp>
      <p:sp>
        <p:nvSpPr>
          <p:cNvPr id="138" name="Google Shape;138;p29"/>
          <p:cNvSpPr/>
          <p:nvPr/>
        </p:nvSpPr>
        <p:spPr>
          <a:xfrm>
            <a:off x="5493725" y="3313351"/>
            <a:ext cx="3405900" cy="8844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9"/>
          <p:cNvSpPr txBox="1">
            <a:spLocks noGrp="1"/>
          </p:cNvSpPr>
          <p:nvPr>
            <p:ph type="title" idx="4294967295"/>
          </p:nvPr>
        </p:nvSpPr>
        <p:spPr>
          <a:xfrm>
            <a:off x="5592575" y="3313351"/>
            <a:ext cx="3208200" cy="654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4 - Каталог товаров</a:t>
            </a:r>
            <a:endParaRPr sz="2500" dirty="0">
              <a:solidFill>
                <a:schemeClr val="dk2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3F4102CB-DE40-455C-850F-C90AB94EF7E8}"/>
              </a:ext>
            </a:extLst>
          </p:cNvPr>
          <p:cNvSpPr/>
          <p:nvPr/>
        </p:nvSpPr>
        <p:spPr>
          <a:xfrm>
            <a:off x="8471381" y="4518925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/>
          <p:nvPr/>
        </p:nvSpPr>
        <p:spPr>
          <a:xfrm>
            <a:off x="2399400" y="252925"/>
            <a:ext cx="50346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0"/>
          <p:cNvSpPr txBox="1">
            <a:spLocks noGrp="1"/>
          </p:cNvSpPr>
          <p:nvPr>
            <p:ph type="subTitle" idx="1"/>
          </p:nvPr>
        </p:nvSpPr>
        <p:spPr>
          <a:xfrm>
            <a:off x="2399400" y="310975"/>
            <a:ext cx="49614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Каталог товаров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46" name="Google Shape;146;p30"/>
          <p:cNvSpPr/>
          <p:nvPr/>
        </p:nvSpPr>
        <p:spPr>
          <a:xfrm>
            <a:off x="585789" y="4561050"/>
            <a:ext cx="805815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title" idx="4294967295"/>
          </p:nvPr>
        </p:nvSpPr>
        <p:spPr>
          <a:xfrm>
            <a:off x="585789" y="4561050"/>
            <a:ext cx="7853086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5 - Каталог авторизованных пользователей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148" name="Google Shape;14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488" y="886825"/>
            <a:ext cx="6857914" cy="35218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D86AFED2-644E-4FA9-AF68-B8312371F8FA}"/>
              </a:ext>
            </a:extLst>
          </p:cNvPr>
          <p:cNvSpPr/>
          <p:nvPr/>
        </p:nvSpPr>
        <p:spPr>
          <a:xfrm>
            <a:off x="8558211" y="4529136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/>
          <p:nvPr/>
        </p:nvSpPr>
        <p:spPr>
          <a:xfrm>
            <a:off x="2054688" y="252900"/>
            <a:ext cx="50346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subTitle" idx="1"/>
          </p:nvPr>
        </p:nvSpPr>
        <p:spPr>
          <a:xfrm>
            <a:off x="2054687" y="310950"/>
            <a:ext cx="49614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Корзина товаров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966100" y="4561050"/>
            <a:ext cx="74727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title" idx="4294967295"/>
          </p:nvPr>
        </p:nvSpPr>
        <p:spPr>
          <a:xfrm>
            <a:off x="1011475" y="4561050"/>
            <a:ext cx="7427400" cy="58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Рисунок 6 - Корзина товаров пользователей</a:t>
            </a:r>
            <a:endParaRPr sz="2500">
              <a:solidFill>
                <a:schemeClr val="dk2"/>
              </a:solidFill>
            </a:endParaRPr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675" y="940053"/>
            <a:ext cx="6436625" cy="341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62CBAD55-C5F5-4387-A040-1ADBF44686CB}"/>
              </a:ext>
            </a:extLst>
          </p:cNvPr>
          <p:cNvSpPr/>
          <p:nvPr/>
        </p:nvSpPr>
        <p:spPr>
          <a:xfrm>
            <a:off x="8484175" y="4499625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/>
          <p:nvPr/>
        </p:nvSpPr>
        <p:spPr>
          <a:xfrm>
            <a:off x="2054688" y="252900"/>
            <a:ext cx="50346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subTitle" idx="1"/>
          </p:nvPr>
        </p:nvSpPr>
        <p:spPr>
          <a:xfrm>
            <a:off x="2054687" y="310950"/>
            <a:ext cx="49614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Отзывы товаров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966100" y="4211425"/>
            <a:ext cx="7472700" cy="873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2"/>
          <p:cNvSpPr txBox="1">
            <a:spLocks noGrp="1"/>
          </p:cNvSpPr>
          <p:nvPr>
            <p:ph type="title" idx="4294967295"/>
          </p:nvPr>
        </p:nvSpPr>
        <p:spPr>
          <a:xfrm>
            <a:off x="1147550" y="4211425"/>
            <a:ext cx="7427400" cy="4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7</a:t>
            </a:r>
            <a:r>
              <a:rPr lang="en" sz="2500" dirty="0">
                <a:solidFill>
                  <a:schemeClr val="dk2"/>
                </a:solidFill>
              </a:rPr>
              <a:t> - Окно отзывов авторизованного пользователя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2550" y="788186"/>
            <a:ext cx="6338899" cy="33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1C9F3064-4045-48E5-9AA6-C8FAB4E01BEB}"/>
              </a:ext>
            </a:extLst>
          </p:cNvPr>
          <p:cNvSpPr/>
          <p:nvPr/>
        </p:nvSpPr>
        <p:spPr>
          <a:xfrm>
            <a:off x="8558211" y="4529136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/>
          <p:nvPr/>
        </p:nvSpPr>
        <p:spPr>
          <a:xfrm>
            <a:off x="1014414" y="252900"/>
            <a:ext cx="7186612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subTitle" idx="1"/>
          </p:nvPr>
        </p:nvSpPr>
        <p:spPr>
          <a:xfrm>
            <a:off x="1014414" y="310950"/>
            <a:ext cx="7186612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</a:rPr>
              <a:t>Добавление/Редактирование отзывов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73" name="Google Shape;173;p33"/>
          <p:cNvSpPr/>
          <p:nvPr/>
        </p:nvSpPr>
        <p:spPr>
          <a:xfrm>
            <a:off x="1394500" y="4211425"/>
            <a:ext cx="62817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3"/>
          <p:cNvSpPr txBox="1">
            <a:spLocks noGrp="1"/>
          </p:cNvSpPr>
          <p:nvPr>
            <p:ph type="title" idx="4294967295"/>
          </p:nvPr>
        </p:nvSpPr>
        <p:spPr>
          <a:xfrm>
            <a:off x="1147550" y="4211425"/>
            <a:ext cx="7427400" cy="4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8</a:t>
            </a:r>
            <a:r>
              <a:rPr lang="en" sz="2500" dirty="0">
                <a:solidFill>
                  <a:schemeClr val="dk2"/>
                </a:solidFill>
              </a:rPr>
              <a:t> - Добавление отзывов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550" y="833787"/>
            <a:ext cx="6281650" cy="32782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620B5AC2-5290-496C-8A9B-842A2F8207F9}"/>
              </a:ext>
            </a:extLst>
          </p:cNvPr>
          <p:cNvSpPr/>
          <p:nvPr/>
        </p:nvSpPr>
        <p:spPr>
          <a:xfrm>
            <a:off x="8408192" y="4473087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/>
          <p:nvPr/>
        </p:nvSpPr>
        <p:spPr>
          <a:xfrm>
            <a:off x="2100264" y="252900"/>
            <a:ext cx="4807636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4"/>
          <p:cNvSpPr txBox="1">
            <a:spLocks noGrp="1"/>
          </p:cNvSpPr>
          <p:nvPr>
            <p:ph type="subTitle" idx="1"/>
          </p:nvPr>
        </p:nvSpPr>
        <p:spPr>
          <a:xfrm>
            <a:off x="2100264" y="330497"/>
            <a:ext cx="4807636" cy="3263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</a:rPr>
              <a:t>Профиль пользователя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1394500" y="4211424"/>
            <a:ext cx="6222348" cy="832064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4"/>
          <p:cNvSpPr txBox="1">
            <a:spLocks noGrp="1"/>
          </p:cNvSpPr>
          <p:nvPr>
            <p:ph type="title" idx="4294967295"/>
          </p:nvPr>
        </p:nvSpPr>
        <p:spPr>
          <a:xfrm>
            <a:off x="1394500" y="4211425"/>
            <a:ext cx="6222348" cy="4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9</a:t>
            </a:r>
            <a:r>
              <a:rPr lang="en" sz="2500" dirty="0">
                <a:solidFill>
                  <a:schemeClr val="dk2"/>
                </a:solidFill>
              </a:rPr>
              <a:t> – </a:t>
            </a:r>
            <a:r>
              <a:rPr lang="ru-RU" sz="2500" dirty="0">
                <a:solidFill>
                  <a:schemeClr val="dk2"/>
                </a:solidFill>
              </a:rPr>
              <a:t>Профиль пользователя с историей заказов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184" name="Google Shape;1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188" y="942974"/>
            <a:ext cx="6116660" cy="313005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7CF6E60B-6184-472E-BC55-9AAE830CBDB4}"/>
              </a:ext>
            </a:extLst>
          </p:cNvPr>
          <p:cNvSpPr/>
          <p:nvPr/>
        </p:nvSpPr>
        <p:spPr>
          <a:xfrm>
            <a:off x="8501061" y="4500563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/>
          <p:nvPr/>
        </p:nvSpPr>
        <p:spPr>
          <a:xfrm>
            <a:off x="2236100" y="252900"/>
            <a:ext cx="4388399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subTitle" idx="1"/>
          </p:nvPr>
        </p:nvSpPr>
        <p:spPr>
          <a:xfrm>
            <a:off x="2236100" y="310950"/>
            <a:ext cx="43884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dk2"/>
                </a:solidFill>
              </a:rPr>
              <a:t>Профиль пользователя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191" name="Google Shape;191;p35"/>
          <p:cNvSpPr/>
          <p:nvPr/>
        </p:nvSpPr>
        <p:spPr>
          <a:xfrm>
            <a:off x="1685925" y="4211424"/>
            <a:ext cx="5457826" cy="77491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title" idx="4294967295"/>
          </p:nvPr>
        </p:nvSpPr>
        <p:spPr>
          <a:xfrm>
            <a:off x="1685925" y="4126587"/>
            <a:ext cx="5457826" cy="7749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10</a:t>
            </a:r>
            <a:r>
              <a:rPr lang="en" sz="2500" dirty="0">
                <a:solidFill>
                  <a:schemeClr val="dk2"/>
                </a:solidFill>
              </a:rPr>
              <a:t> – </a:t>
            </a:r>
            <a:r>
              <a:rPr lang="ru-RU" sz="2500" dirty="0">
                <a:solidFill>
                  <a:schemeClr val="dk2"/>
                </a:solidFill>
              </a:rPr>
              <a:t>Профиль пользователя с его отзывами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686" y="908898"/>
            <a:ext cx="6385226" cy="306997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33B95428-660C-47D1-AC6E-2F7BD4B3CE5C}"/>
              </a:ext>
            </a:extLst>
          </p:cNvPr>
          <p:cNvSpPr/>
          <p:nvPr/>
        </p:nvSpPr>
        <p:spPr>
          <a:xfrm>
            <a:off x="8401049" y="4358574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/>
          <p:nvPr/>
        </p:nvSpPr>
        <p:spPr>
          <a:xfrm>
            <a:off x="2143124" y="57150"/>
            <a:ext cx="4407695" cy="786097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subTitle" idx="1"/>
          </p:nvPr>
        </p:nvSpPr>
        <p:spPr>
          <a:xfrm>
            <a:off x="1428775" y="207169"/>
            <a:ext cx="5886425" cy="46918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Редактирование данных пользователя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200" name="Google Shape;200;p36"/>
          <p:cNvSpPr/>
          <p:nvPr/>
        </p:nvSpPr>
        <p:spPr>
          <a:xfrm>
            <a:off x="1394500" y="4211425"/>
            <a:ext cx="6281700" cy="4815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6"/>
          <p:cNvSpPr txBox="1">
            <a:spLocks noGrp="1"/>
          </p:cNvSpPr>
          <p:nvPr>
            <p:ph type="title" idx="4294967295"/>
          </p:nvPr>
        </p:nvSpPr>
        <p:spPr>
          <a:xfrm>
            <a:off x="1147550" y="4211425"/>
            <a:ext cx="7427400" cy="4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11</a:t>
            </a:r>
            <a:r>
              <a:rPr lang="en" sz="2500" dirty="0">
                <a:solidFill>
                  <a:schemeClr val="dk2"/>
                </a:solidFill>
              </a:rPr>
              <a:t> – </a:t>
            </a:r>
            <a:r>
              <a:rPr lang="ru-RU" sz="2500" dirty="0">
                <a:solidFill>
                  <a:schemeClr val="dk2"/>
                </a:solidFill>
              </a:rPr>
              <a:t>Редактирование данных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202" name="Google Shape;2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8775" y="889448"/>
            <a:ext cx="5969002" cy="31088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4CDCC0E3-42A6-4F49-8D50-0298B9FA5D03}"/>
              </a:ext>
            </a:extLst>
          </p:cNvPr>
          <p:cNvSpPr/>
          <p:nvPr/>
        </p:nvSpPr>
        <p:spPr>
          <a:xfrm>
            <a:off x="8372474" y="4397844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/>
          <p:nvPr/>
        </p:nvSpPr>
        <p:spPr>
          <a:xfrm>
            <a:off x="3207543" y="250031"/>
            <a:ext cx="2464595" cy="494218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subTitle" idx="1"/>
          </p:nvPr>
        </p:nvSpPr>
        <p:spPr>
          <a:xfrm>
            <a:off x="2207419" y="250031"/>
            <a:ext cx="4471988" cy="4942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Окно админа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216" name="Google Shape;216;p38"/>
          <p:cNvSpPr/>
          <p:nvPr/>
        </p:nvSpPr>
        <p:spPr>
          <a:xfrm>
            <a:off x="1929546" y="4100513"/>
            <a:ext cx="5284907" cy="94297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38"/>
          <p:cNvSpPr txBox="1">
            <a:spLocks noGrp="1"/>
          </p:cNvSpPr>
          <p:nvPr>
            <p:ph type="title" idx="4294967295"/>
          </p:nvPr>
        </p:nvSpPr>
        <p:spPr>
          <a:xfrm>
            <a:off x="1929544" y="4100513"/>
            <a:ext cx="5234902" cy="6215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12</a:t>
            </a:r>
            <a:r>
              <a:rPr lang="en" sz="2500" dirty="0">
                <a:solidFill>
                  <a:schemeClr val="dk2"/>
                </a:solidFill>
              </a:rPr>
              <a:t> –</a:t>
            </a:r>
            <a:r>
              <a:rPr lang="ru-RU" sz="2500" dirty="0">
                <a:solidFill>
                  <a:schemeClr val="dk2"/>
                </a:solidFill>
              </a:rPr>
              <a:t> Окно администратора </a:t>
            </a:r>
            <a:r>
              <a:rPr lang="ru-RU" sz="2800" dirty="0">
                <a:solidFill>
                  <a:schemeClr val="dk2"/>
                </a:solidFill>
              </a:rPr>
              <a:t>с товарами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218" name="Google Shape;21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500" y="902625"/>
            <a:ext cx="6073800" cy="31041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977D9372-1AD2-4418-A213-27ED00711E5F}"/>
              </a:ext>
            </a:extLst>
          </p:cNvPr>
          <p:cNvSpPr/>
          <p:nvPr/>
        </p:nvSpPr>
        <p:spPr>
          <a:xfrm>
            <a:off x="8415336" y="4450556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/>
          <p:nvPr/>
        </p:nvSpPr>
        <p:spPr>
          <a:xfrm>
            <a:off x="3207543" y="250031"/>
            <a:ext cx="2464595" cy="494218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subTitle" idx="1"/>
          </p:nvPr>
        </p:nvSpPr>
        <p:spPr>
          <a:xfrm>
            <a:off x="2207419" y="250031"/>
            <a:ext cx="4471988" cy="4942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solidFill>
                  <a:schemeClr val="dk2"/>
                </a:solidFill>
              </a:rPr>
              <a:t>Окно админа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216" name="Google Shape;216;p38"/>
          <p:cNvSpPr/>
          <p:nvPr/>
        </p:nvSpPr>
        <p:spPr>
          <a:xfrm>
            <a:off x="1929546" y="4100513"/>
            <a:ext cx="5284907" cy="94297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38"/>
          <p:cNvSpPr txBox="1">
            <a:spLocks noGrp="1"/>
          </p:cNvSpPr>
          <p:nvPr>
            <p:ph type="title" idx="4294967295"/>
          </p:nvPr>
        </p:nvSpPr>
        <p:spPr>
          <a:xfrm>
            <a:off x="1929544" y="4100513"/>
            <a:ext cx="5234902" cy="6215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dk2"/>
                </a:solidFill>
              </a:rPr>
              <a:t>Рисунок </a:t>
            </a:r>
            <a:r>
              <a:rPr lang="ru-RU" sz="2500" dirty="0">
                <a:solidFill>
                  <a:schemeClr val="dk2"/>
                </a:solidFill>
              </a:rPr>
              <a:t>13</a:t>
            </a:r>
            <a:r>
              <a:rPr lang="en" sz="2500" dirty="0">
                <a:solidFill>
                  <a:schemeClr val="dk2"/>
                </a:solidFill>
              </a:rPr>
              <a:t> –</a:t>
            </a:r>
            <a:r>
              <a:rPr lang="ru-RU" sz="2500" dirty="0">
                <a:solidFill>
                  <a:schemeClr val="dk2"/>
                </a:solidFill>
              </a:rPr>
              <a:t> Окно администратора </a:t>
            </a:r>
            <a:r>
              <a:rPr lang="ru-RU" sz="2800" dirty="0">
                <a:solidFill>
                  <a:schemeClr val="dk2"/>
                </a:solidFill>
              </a:rPr>
              <a:t>с заказами</a:t>
            </a:r>
            <a:endParaRPr sz="2500" dirty="0">
              <a:solidFill>
                <a:schemeClr val="dk2"/>
              </a:solidFill>
            </a:endParaRPr>
          </a:p>
        </p:txBody>
      </p:sp>
      <p:pic>
        <p:nvPicPr>
          <p:cNvPr id="7" name="Google Shape;227;p39">
            <a:extLst>
              <a:ext uri="{FF2B5EF4-FFF2-40B4-BE49-F238E27FC236}">
                <a16:creationId xmlns:a16="http://schemas.microsoft.com/office/drawing/2014/main" id="{50665A46-33C8-4CC6-8401-6FD353F399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268" y="857249"/>
            <a:ext cx="6171464" cy="317301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C5EBA05B-D657-493F-8D74-BDA004521290}"/>
              </a:ext>
            </a:extLst>
          </p:cNvPr>
          <p:cNvSpPr/>
          <p:nvPr/>
        </p:nvSpPr>
        <p:spPr>
          <a:xfrm>
            <a:off x="8458199" y="4471989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447551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3"/>
          <p:cNvSpPr txBox="1">
            <a:spLocks noGrp="1"/>
          </p:cNvSpPr>
          <p:nvPr>
            <p:ph type="ctrTitle"/>
          </p:nvPr>
        </p:nvSpPr>
        <p:spPr>
          <a:xfrm>
            <a:off x="2429725" y="8794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585" name="Google Shape;585;p63"/>
          <p:cNvSpPr txBox="1">
            <a:spLocks noGrp="1"/>
          </p:cNvSpPr>
          <p:nvPr>
            <p:ph type="subTitle" idx="1"/>
          </p:nvPr>
        </p:nvSpPr>
        <p:spPr>
          <a:xfrm>
            <a:off x="2424850" y="1914150"/>
            <a:ext cx="4293900" cy="10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anapetrova293@gmail.com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PinkTeddyBearStore.com</a:t>
            </a:r>
            <a:endParaRPr dirty="0"/>
          </a:p>
        </p:txBody>
      </p:sp>
      <p:sp>
        <p:nvSpPr>
          <p:cNvPr id="587" name="Google Shape;587;p63"/>
          <p:cNvSpPr/>
          <p:nvPr/>
        </p:nvSpPr>
        <p:spPr>
          <a:xfrm>
            <a:off x="3832218" y="3070956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8" name="Google Shape;588;p63"/>
          <p:cNvGrpSpPr/>
          <p:nvPr/>
        </p:nvGrpSpPr>
        <p:grpSpPr>
          <a:xfrm>
            <a:off x="4398781" y="3071147"/>
            <a:ext cx="346056" cy="345674"/>
            <a:chOff x="3303268" y="3817349"/>
            <a:chExt cx="346056" cy="345674"/>
          </a:xfrm>
        </p:grpSpPr>
        <p:sp>
          <p:nvSpPr>
            <p:cNvPr id="589" name="Google Shape;589;p63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3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3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3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63"/>
          <p:cNvGrpSpPr/>
          <p:nvPr/>
        </p:nvGrpSpPr>
        <p:grpSpPr>
          <a:xfrm>
            <a:off x="4965727" y="3071147"/>
            <a:ext cx="346056" cy="345674"/>
            <a:chOff x="2238181" y="4120624"/>
            <a:chExt cx="346056" cy="345674"/>
          </a:xfrm>
        </p:grpSpPr>
        <p:grpSp>
          <p:nvGrpSpPr>
            <p:cNvPr id="594" name="Google Shape;594;p63"/>
            <p:cNvGrpSpPr/>
            <p:nvPr/>
          </p:nvGrpSpPr>
          <p:grpSpPr>
            <a:xfrm>
              <a:off x="2309155" y="4177413"/>
              <a:ext cx="203862" cy="231903"/>
              <a:chOff x="1512725" y="258500"/>
              <a:chExt cx="4570900" cy="5199625"/>
            </a:xfrm>
          </p:grpSpPr>
          <p:sp>
            <p:nvSpPr>
              <p:cNvPr id="595" name="Google Shape;595;p63"/>
              <p:cNvSpPr/>
              <p:nvPr/>
            </p:nvSpPr>
            <p:spPr>
              <a:xfrm>
                <a:off x="1512725" y="2700900"/>
                <a:ext cx="2654475" cy="2757225"/>
              </a:xfrm>
              <a:custGeom>
                <a:avLst/>
                <a:gdLst/>
                <a:ahLst/>
                <a:cxnLst/>
                <a:rect l="l" t="t" r="r" b="b"/>
                <a:pathLst>
                  <a:path w="106179" h="110289" extrusionOk="0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63"/>
              <p:cNvSpPr/>
              <p:nvPr/>
            </p:nvSpPr>
            <p:spPr>
              <a:xfrm>
                <a:off x="2323325" y="258500"/>
                <a:ext cx="3760300" cy="4390225"/>
              </a:xfrm>
              <a:custGeom>
                <a:avLst/>
                <a:gdLst/>
                <a:ahLst/>
                <a:cxnLst/>
                <a:rect l="l" t="t" r="r" b="b"/>
                <a:pathLst>
                  <a:path w="150412" h="175609" extrusionOk="0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7" name="Google Shape;597;p63"/>
            <p:cNvSpPr/>
            <p:nvPr/>
          </p:nvSpPr>
          <p:spPr>
            <a:xfrm>
              <a:off x="2238181" y="4120624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AA78B08C-7A65-470E-A5E8-09D735FC7FA6}"/>
              </a:ext>
            </a:extLst>
          </p:cNvPr>
          <p:cNvSpPr/>
          <p:nvPr/>
        </p:nvSpPr>
        <p:spPr>
          <a:xfrm>
            <a:off x="8472486" y="4493417"/>
            <a:ext cx="550069" cy="542925"/>
          </a:xfrm>
          <a:prstGeom prst="ellipse">
            <a:avLst/>
          </a:prstGeom>
          <a:solidFill>
            <a:srgbClr val="FF88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ian Flowers Personal Organizer for Pre-K Teachers by Slidesgo">
  <a:themeElements>
    <a:clrScheme name="Simple Light">
      <a:dk1>
        <a:srgbClr val="FFFFFF"/>
      </a:dk1>
      <a:lt1>
        <a:srgbClr val="FFFFFF"/>
      </a:lt1>
      <a:dk2>
        <a:srgbClr val="FF88A5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</TotalTime>
  <Words>307</Words>
  <Application>Microsoft Office PowerPoint</Application>
  <PresentationFormat>Экран (16:9)</PresentationFormat>
  <Paragraphs>86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Abril Fatface</vt:lpstr>
      <vt:lpstr>Arial</vt:lpstr>
      <vt:lpstr>Barlow</vt:lpstr>
      <vt:lpstr>Asian Flowers Personal Organizer for Pre-K Teachers by Slidesgo</vt:lpstr>
      <vt:lpstr>Магазин розовых плюшевых мишек  Проектирование базы данных и разработка приложения</vt:lpstr>
      <vt:lpstr>Цель проекта</vt:lpstr>
      <vt:lpstr>Стек технологий</vt:lpstr>
      <vt:lpstr>Презентация PowerPoint</vt:lpstr>
      <vt:lpstr>Презентация PowerPoint</vt:lpstr>
      <vt:lpstr>Презентация PowerPoint</vt:lpstr>
      <vt:lpstr>Информация</vt:lpstr>
      <vt:lpstr>Презентация PowerPoint</vt:lpstr>
      <vt:lpstr>Руководство пользователя</vt:lpstr>
      <vt:lpstr>Рисунок 1 - Главное окно</vt:lpstr>
      <vt:lpstr>Рисунок 2 - Окно регистрации</vt:lpstr>
      <vt:lpstr>Рисунок 3 - Окно отзывов</vt:lpstr>
      <vt:lpstr>Рисунок 5 - Каталог авторизованных пользователей</vt:lpstr>
      <vt:lpstr>Рисунок 6 - Корзина товаров пользователей</vt:lpstr>
      <vt:lpstr>Рисунок 7 - Окно отзывов авторизованного пользователя</vt:lpstr>
      <vt:lpstr>Рисунок 8 - Добавление отзывов</vt:lpstr>
      <vt:lpstr>Рисунок 9 – Профиль пользователя с историей заказов</vt:lpstr>
      <vt:lpstr>Рисунок 10 – Профиль пользователя с его отзывами</vt:lpstr>
      <vt:lpstr>Рисунок 11 – Редактирование данных</vt:lpstr>
      <vt:lpstr>Рисунок 12 – Окно администратора с товарами</vt:lpstr>
      <vt:lpstr>Рисунок 13 – Окно администратора с заказами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Магазин розовых плюшевых мишек  Проектирование базы данных и разработка приложения</dc:title>
  <dc:creator>user</dc:creator>
  <cp:lastModifiedBy>user</cp:lastModifiedBy>
  <cp:revision>11</cp:revision>
  <dcterms:modified xsi:type="dcterms:W3CDTF">2025-12-03T11:03:27Z</dcterms:modified>
</cp:coreProperties>
</file>